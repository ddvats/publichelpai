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188720"/>
            <a:ext cx="1371600" cy="914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</a:defRPr>
            </a:pPr>
            <a:r>
              <a:t>PublicHelp AI</a:t>
            </a:r>
          </a:p>
          <a:p>
            <a:pPr>
              <a:spcBef>
                <a:spcPts val="1400"/>
              </a:spcBef>
              <a:defRPr sz="2000">
                <a:solidFill>
                  <a:srgbClr val="CBD5E1"/>
                </a:solidFill>
              </a:defRPr>
            </a:pPr>
            <a:r>
              <a:t>A Multi-Channel Hybrid Recommender System with Deterministic Eligibility &amp; Explainability for Indian Citizen Welfare Schemes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3566160"/>
            <a:ext cx="2468880" cy="5486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118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</a:defRPr>
            </a:pPr>
            <a:r>
              <a:t>★ FastAPI &amp; PyTorch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3566160"/>
            <a:ext cx="2468880" cy="5486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29000" y="36118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★ Hybrid RRF + MMR Engine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566160"/>
            <a:ext cx="2468880" cy="5486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36118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★ Deterministic Eligibility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3566160"/>
            <a:ext cx="2468880" cy="54864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3611880"/>
            <a:ext cx="2468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A855F7"/>
                </a:solidFill>
              </a:defRPr>
            </a:pPr>
            <a:r>
              <a:t>★ React 19 + Tailwind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89120"/>
            <a:ext cx="10698480" cy="173736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52628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Project Architecture &amp; Engineering Defense  •  Academic &amp; Industrial Review</a:t>
            </a:r>
          </a:p>
          <a:p>
            <a:pPr>
              <a:spcBef>
                <a:spcPts val="600"/>
              </a:spcBef>
              <a:defRPr sz="1200">
                <a:solidFill>
                  <a:srgbClr val="FFFFFF"/>
                </a:solidFill>
              </a:defRPr>
            </a:pPr>
            <a:r>
              <a:t>• Dataset: 2,066 Official Schemes from MyScheme Government Portal (Central &amp; State Ministries)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Core AI Components: TF-IDF Lexical Matching + all-MiniLM-L6-v2 GPU Embeddings + Reciprocal Rank Fusion + Vectorized MMR</a:t>
            </a:r>
          </a:p>
          <a:p>
            <a:pPr>
              <a:spcBef>
                <a:spcPts val="400"/>
              </a:spcBef>
              <a:defRPr sz="1100">
                <a:solidFill>
                  <a:srgbClr val="F59E0B"/>
                </a:solidFill>
              </a:defRPr>
            </a:pPr>
            <a:r>
              <a:t>• Live Repository: https://github.com/DDVats/PublicHelpAI.git  |  Verified with 70 Automated Passing Tests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Executive Summary: Transforming Civic Welfare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2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28416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29626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2,000+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Active Welfare Schemes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Spanning agriculture, education, pensions, women empowerment, health insurance &amp; MSME loans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280160"/>
            <a:ext cx="3328416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371600"/>
            <a:ext cx="29626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9E0B"/>
                </a:solidFill>
              </a:defRPr>
            </a:pPr>
            <a:r>
              <a:t>₹15+ Lakh Cr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Annual Welfare Budget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Dedicated annually by Central &amp; State Govts, yet millions of citizens miss statutory entitlements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1280160"/>
            <a:ext cx="3328416" cy="1645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371600"/>
            <a:ext cx="296265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0B981"/>
                </a:solidFill>
              </a:defRPr>
            </a:pPr>
            <a:r>
              <a:t>100% Discoverable</a:t>
            </a:r>
          </a:p>
          <a:p>
            <a:pPr>
              <a:defRPr sz="1200" b="1">
                <a:solidFill>
                  <a:srgbClr val="1E293B"/>
                </a:solidFill>
              </a:defRPr>
            </a:pPr>
            <a:r>
              <a:t>Full Catalog Coverage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Zero dead ends: every statutory scheme is indexed, searchable, and verified deterministically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154680"/>
            <a:ext cx="10728655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291840"/>
            <a:ext cx="1014984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F172A"/>
                </a:solidFill>
              </a:defRPr>
            </a:pPr>
            <a:r>
              <a:t>The Paradigm Shift: From Passive Directories to Proactive Recommender Systems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059669"/>
                </a:solidFill>
              </a:rPr>
              <a:t>• The Current Status Quo: </a:t>
            </a:r>
            <a:r>
              <a:rPr sz="1100">
                <a:solidFill>
                  <a:srgbClr val="1E293B"/>
                </a:solidFill>
              </a:rPr>
              <a:t>Citizens must navigate dozens of fragmented portals, decipher complex bureaucratic eligibility criteria, and guess exact Sanskrit/bureaucratic scheme names (PMAY, PM-KISAN, NFSA).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059669"/>
                </a:solidFill>
              </a:rPr>
              <a:t>• The PublicHelp AI Vision: </a:t>
            </a:r>
            <a:r>
              <a:rPr sz="1100">
                <a:solidFill>
                  <a:srgbClr val="1E293B"/>
                </a:solidFill>
              </a:rPr>
              <a:t>An explainable, citizen-first recommender system that models user demographic profiles, employs dense semantic matching to overcome lexical barriers, and runs strict constraint satisfaction rules.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059669"/>
                </a:solidFill>
              </a:rPr>
              <a:t>• Explainability &amp; Trust: </a:t>
            </a:r>
            <a:r>
              <a:rPr sz="1100">
                <a:solidFill>
                  <a:srgbClr val="1E293B"/>
                </a:solidFill>
              </a:rPr>
              <a:t>Provides transparent, data-backed reasons ('Why Recommended') matching user age, domicile, income ceilings, and caste categories so citizens trust every recommendation.</a:t>
            </a:r>
          </a:p>
          <a:p>
            <a:pPr>
              <a:spcBef>
                <a:spcPts val="700"/>
              </a:spcBef>
            </a:pPr>
            <a:r>
              <a:rPr b="1" sz="1150">
                <a:solidFill>
                  <a:srgbClr val="059669"/>
                </a:solidFill>
              </a:rPr>
              <a:t>• Actionable Entitlements: </a:t>
            </a:r>
            <a:r>
              <a:rPr sz="1100">
                <a:solidFill>
                  <a:srgbClr val="1E293B"/>
                </a:solidFill>
              </a:rPr>
              <a:t>Groups complementary welfare schemes into unified packages (e.g. Farmer income + crop insurance + solar pump) while maintaining individual eligibility guarantees.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Root-Cause Analysis: The Three Civic Discovery Bottlenecks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3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28416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328416" cy="41148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Information Fragmentation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Schemes are scattered across 36 State / UT portals and 50+ Central Ministries.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Crucial eligibility guidelines are trapped in multi-page government PDFs &amp; gazettes.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Inconsistent terminology across states (e.g., 'Rythu Bandhu' vs. 'Kalia' vs. 'PM-Kisan').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Result: Over 60% of eligible rural beneficiaries never discover relevant schemes.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280160"/>
            <a:ext cx="3328416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97680" y="1280160"/>
            <a:ext cx="3328416" cy="4114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1325880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Keyword Search Failure &amp; Cold 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Citizens search colloquial terms like 'money for farming' or 'help for college girl'.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Official portals use exact statutory strings: 'Post-Matric Scholarship for SC/ST'.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Lexical BM25 search returns 0 matches for semantic paraphrases.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Result: High bounce rates, citizen frustration, and exclusion of marginalized groups.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1280160"/>
            <a:ext cx="3328416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1280160"/>
            <a:ext cx="3328416" cy="4114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325880"/>
            <a:ext cx="33284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Zero Eligibility Verification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Existing portals are passive link directories without automated eligibility checking.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A citizen discovers a scheme only to be rejected at an office due to income or state rules.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LLMs hallucinate eligibility criteria, leading to invalid applications.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Result: Administrative backlog, wasted citizen travel costs, and lost public trust.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Innovation: Why Recommender Engine vs. Search or LLMs?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4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Architectural Paradigm Comparison for Civic Welfare Delivery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743200"/>
                <a:gridCol w="2743200"/>
                <a:gridCol w="2743200"/>
              </a:tblGrid>
              <a:tr h="822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Evaluation Dimension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Traditional Keyword Search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Pure Generative LLM (RAG)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PublicHelp AI (Hybrid RecSys)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Query Understanding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Exact token overlap only; fails on colloquial Hindi/English phrasing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Strong semantic intent; high prompt sensitivity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5F46"/>
                          </a:solidFill>
                        </a:defRPr>
                      </a:pPr>
                      <a:r>
                        <a:t>Dual-Channel: TF-IDF n-grams + dense GPU sentence embeddings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Eligibility Guarantee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Zero automated verification; redirects to government PDFs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Prone to hallucination; probabilistic rules cannot guarantee law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5F46"/>
                          </a:solidFill>
                        </a:defRPr>
                      </a:pPr>
                      <a:r>
                        <a:t>Deterministic constraint engine with strict tri-state verification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Result Diversity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Redundant: returns 10 variants from single ministry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Uncontrolled list generation; position bias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5F46"/>
                          </a:solidFill>
                        </a:defRPr>
                      </a:pPr>
                      <a:r>
                        <a:t>Vectorized Maximal Marginal Relevance (MMR, λ=0.85)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E293B"/>
                          </a:solidFill>
                        </a:defRPr>
                      </a:pPr>
                      <a:r>
                        <a:t>Explainability &amp; Trust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No explanation provided; citizen unaware of qualification criteria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E293B"/>
                          </a:solidFill>
                        </a:defRPr>
                      </a:pPr>
                      <a:r>
                        <a:t>Black-box natural language reasoning without citation audit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065F46"/>
                          </a:solidFill>
                        </a:defRPr>
                      </a:pPr>
                      <a:r>
                        <a:t>Data-backed explainability badges linking age, state, caste, and income</a:t>
                      </a:r>
                    </a:p>
                  </a:txBody>
                  <a:tcPr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Architecture: End-to-End Multi-Channel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5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1444752"/>
            <a:ext cx="2011680" cy="502920"/>
          </a:xfrm>
          <a:prstGeom prst="round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1. Citizen 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38988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Demographic Profile (Age, State, Caste, Income, Gender) + Stated Civic Need Query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24028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" y="2404872"/>
            <a:ext cx="2011680" cy="502920"/>
          </a:xfrm>
          <a:prstGeom prst="roundRect">
            <a:avLst/>
          </a:prstGeom>
          <a:solidFill>
            <a:srgbClr val="6366F1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2. Dual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35000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Sparse TF-IDF n-grams (exact terms) + Dense 384d all-MiniLM-L6-v2 Embeddings on GPU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20040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3364992"/>
            <a:ext cx="2011680" cy="502920"/>
          </a:xfrm>
          <a:prstGeom prst="round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3. Rank Fusion (RRF)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1012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Reciprocal Rank Fusion (k=60) merges ordinal rankings across sparse &amp; dense channels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6052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4325112"/>
            <a:ext cx="2011680" cy="502920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4. Eligibility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427024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Deterministic constraint satisfaction: hard pruning of ineligible items; tri-state audit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120640"/>
            <a:ext cx="10728655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5285232"/>
            <a:ext cx="2011680" cy="502920"/>
          </a:xfrm>
          <a:prstGeom prst="round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5. MMR Diversity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5230368"/>
            <a:ext cx="8138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Vectorized MMR (λ=0.85) matrix-dot reranking + Bundling + 'Why Recommended' Badges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989320"/>
            <a:ext cx="10728655" cy="4114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016752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 b="1">
                <a:solidFill>
                  <a:srgbClr val="10B981"/>
                </a:solidFill>
              </a:defRPr>
            </a:pPr>
            <a:r>
              <a:t>⚡ End-to-End Latency: Sub-400ms across all 2,066 schemes with vectorized NumPy MMR &amp; in-memory SQLite FTS5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Data Engineering: Schema Normalization &amp; SQLite FTS5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6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Dataset Ingestion &amp; Cleaning Pipeline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B82F6"/>
                </a:solidFill>
              </a:rPr>
              <a:t>• Source Authority: </a:t>
            </a:r>
            <a:r>
              <a:rPr sz="1050">
                <a:solidFill>
                  <a:srgbClr val="1E293B"/>
                </a:solidFill>
              </a:rPr>
              <a:t>MyScheme official repository of Indian Central &amp; State Government civic welfare schemes.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B82F6"/>
                </a:solidFill>
              </a:rPr>
              <a:t>• Catalog Size: </a:t>
            </a:r>
            <a:r>
              <a:rPr sz="1050">
                <a:solidFill>
                  <a:srgbClr val="1E293B"/>
                </a:solidFill>
              </a:rPr>
              <a:t>2,066 distinct verified welfare schemes covering 36 States/UTs and Central ministries.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B82F6"/>
                </a:solidFill>
              </a:rPr>
              <a:t>• Raw vs. Parsed: </a:t>
            </a:r>
            <a:r>
              <a:rPr sz="1050">
                <a:solidFill>
                  <a:srgbClr val="1E293B"/>
                </a:solidFill>
              </a:rPr>
              <a:t>Raw scraped text had 16 unstructured string fields. Ingestion pipeline extracts structured numerical and relational columns.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B82F6"/>
                </a:solidFill>
              </a:rPr>
              <a:t>• SQLite FTS5: </a:t>
            </a:r>
            <a:r>
              <a:rPr sz="1050">
                <a:solidFill>
                  <a:srgbClr val="1E293B"/>
                </a:solidFill>
              </a:rPr>
              <a:t>Engineered an in-memory SQLite FTS5 full-text virtual table indexing title, objective, details, and benefits.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B82F6"/>
                </a:solidFill>
              </a:rPr>
              <a:t>• Zero Missing IDs: </a:t>
            </a:r>
            <a:r>
              <a:rPr sz="1050">
                <a:solidFill>
                  <a:srgbClr val="1E293B"/>
                </a:solidFill>
              </a:rPr>
              <a:t>Deterministic ID assignment and deduplication ensuring 100% catalog integrity and schema validation.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4225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Extracted Relational Constraint Fields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⚙ min_age / max_age </a:t>
            </a:r>
            <a:r>
              <a:rPr sz="1000">
                <a:solidFill>
                  <a:srgbClr val="64748B"/>
                </a:solidFill>
              </a:rPr>
              <a:t>[INTEGER]: Standardized numerical age brackets [0 to 120] for youth, working, and senior schemes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⚙ gender_rule </a:t>
            </a:r>
            <a:r>
              <a:rPr sz="1000">
                <a:solidFill>
                  <a:srgbClr val="64748B"/>
                </a:solidFill>
              </a:rPr>
              <a:t>[VARCHAR]: Strict values: ALL, FEMALE_ONLY, MALE_ONLY, TRANSGENDER_ONLY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⚙ state_rule </a:t>
            </a:r>
            <a:r>
              <a:rPr sz="1000">
                <a:solidFill>
                  <a:srgbClr val="64748B"/>
                </a:solidFill>
              </a:rPr>
              <a:t>[VARCHAR]: CENTRAL vs. specific State/UT codes (UP, MP, Bihar, Rajasthan, etc.)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⚙ income_ceiling </a:t>
            </a:r>
            <a:r>
              <a:rPr sz="1000">
                <a:solidFill>
                  <a:srgbClr val="64748B"/>
                </a:solidFill>
              </a:rPr>
              <a:t>[FLOAT]: Extracted annual income caps (e.g. ₹2,50,000 for EWS scholarships)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⚙ social_category </a:t>
            </a:r>
            <a:r>
              <a:rPr sz="1000">
                <a:solidFill>
                  <a:srgbClr val="64748B"/>
                </a:solidFill>
              </a:rPr>
              <a:t>[VARCHAR]: General, SC, ST, OBC, Minority, Differently-Abled (Divyang)</a:t>
            </a:r>
          </a:p>
          <a:p>
            <a:pPr>
              <a:spcBef>
                <a:spcPts val="600"/>
              </a:spcBef>
            </a:pPr>
            <a:r>
              <a:rPr b="1" sz="1100">
                <a:solidFill>
                  <a:srgbClr val="059669"/>
                </a:solidFill>
              </a:rPr>
              <a:t>⚙ land_holding_cap </a:t>
            </a:r>
            <a:r>
              <a:rPr sz="1000">
                <a:solidFill>
                  <a:srgbClr val="64748B"/>
                </a:solidFill>
              </a:rPr>
              <a:t>[FLOAT]: Agricultural land limits in hectares/acres for small &amp; marginal farmers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Candidate Retrieval: Sparse Lexical &amp; Dense GPU Semantic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7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B82F6"/>
                </a:solidFill>
              </a:defRPr>
            </a:pPr>
            <a:r>
              <a:t>Channel 1: Sparse Lexical (TF-IDF &amp; N-Grams)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</a:defRPr>
            </a:pPr>
            <a:r>
              <a:t>Target: Exact token matching, scheme acronyms, statutory legal terms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N-gram Range: </a:t>
            </a:r>
            <a:r>
              <a:rPr sz="1050">
                <a:solidFill>
                  <a:srgbClr val="1E293B"/>
                </a:solidFill>
              </a:rPr>
              <a:t>Unigrams and bigrams (1, 2) configured with English and Hindi transliterated stopword suppression.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Statutory Precision: </a:t>
            </a:r>
            <a:r>
              <a:rPr sz="1050">
                <a:solidFill>
                  <a:srgbClr val="1E293B"/>
                </a:solidFill>
              </a:rPr>
              <a:t>Guarantees exact discovery for acronyms like 'PMAY', 'KCC', 'PM-KISAN', 'OBC Scholarship', 'Kanya Sumangala'.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Sub-linear TF Scaling: </a:t>
            </a:r>
            <a:r>
              <a:rPr sz="1050">
                <a:solidFill>
                  <a:srgbClr val="1E293B"/>
                </a:solidFill>
              </a:rPr>
              <a:t>Prevents multi-page scheme gazettes from dominating shorter, highly focused state schemes.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Ultra-Low Latency: </a:t>
            </a:r>
            <a:r>
              <a:rPr sz="1050">
                <a:solidFill>
                  <a:srgbClr val="1E293B"/>
                </a:solidFill>
              </a:rPr>
              <a:t>Executes sparse matrix dot product in ~8.6 ms across the 2,066 scheme corpus.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4225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59669"/>
                </a:solidFill>
              </a:defRPr>
            </a:pPr>
            <a:r>
              <a:t>Channel 2: Dense Semantic (Sentence Transformers)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</a:defRPr>
            </a:pPr>
            <a:r>
              <a:t>Target: Colloquial intent, conceptual matching, vocabulary mismatch resolution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Model Backbone: </a:t>
            </a:r>
            <a:r>
              <a:rPr sz="1050">
                <a:solidFill>
                  <a:srgbClr val="1E293B"/>
                </a:solidFill>
              </a:rPr>
              <a:t>sentence-transformers/all-MiniLM-L6-v2 yielding 384-dimensional dense vectors.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GPU Hardware Acceleration: </a:t>
            </a:r>
            <a:r>
              <a:rPr sz="1050">
                <a:solidFill>
                  <a:srgbClr val="1E293B"/>
                </a:solidFill>
              </a:rPr>
              <a:t>PyTorch accelerated on NVIDIA GeForce RTX 2050 GPU for high-throughput tensor operations.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Vocabulary Invariance: </a:t>
            </a:r>
            <a:r>
              <a:rPr sz="1050">
                <a:solidFill>
                  <a:srgbClr val="1E293B"/>
                </a:solidFill>
              </a:rPr>
              <a:t>Maps informal user phrasing ('help for poor college girl') to bureaucratic titles ('Post-Matric Financial Assistance') with zero keyword overlap.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F172A"/>
                </a:solidFill>
              </a:rPr>
              <a:t>• Normalized Inner Product: </a:t>
            </a:r>
            <a:r>
              <a:rPr sz="1050">
                <a:solidFill>
                  <a:srgbClr val="1E293B"/>
                </a:solidFill>
              </a:rPr>
              <a:t>Pre-normalized L2 embeddings allow exact cosine similarity computation via fast matrix multiplication in ~13.3 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Ranking Fusion: Reciprocal Rank Fusion (RRF) Theory &amp;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8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1645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The Mathematical Problem &amp; The RRF Solution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</a:defRPr>
            </a:pPr>
            <a:r>
              <a:t>Linear weighted scoring (Score = α·TFIDF + β·Cosine) suffers from divergent score distributions: TF-IDF is unbounded and document-length sensitive, whereas Cosine similarity is bounded in [-1, 1]. Direct addition causes unpredictable rank distortion.</a:t>
            </a:r>
          </a:p>
          <a:p>
            <a:pPr>
              <a:spcBef>
                <a:spcPts val="600"/>
              </a:spcBef>
              <a:defRPr sz="1300" b="1">
                <a:solidFill>
                  <a:srgbClr val="F59E0B"/>
                </a:solidFill>
              </a:defRPr>
            </a:pPr>
            <a:r>
              <a:t>RRF Score(d) = ∑ (m ∈ M) [ 1 / ( k + r_m(d) ) ]      (with smoothing constant k = 60)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108960"/>
            <a:ext cx="3328416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246120"/>
            <a:ext cx="29626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1. Scale &amp; Distribution Invariance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RRF relies solely on ordinal rankings rather than raw uncalibrated scores. No score normalization or min-max calibration artifacts can skew candidate retrieval.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3108960"/>
            <a:ext cx="3328416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3246120"/>
            <a:ext cx="29626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2. Robustness to Outliers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If a document receives an abnormally high score in one channel due to token repetition, its rank contribution remains strictly bounded by 1/(k+1) = 0.01639.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108960"/>
            <a:ext cx="3328416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246120"/>
            <a:ext cx="296265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59669"/>
                </a:solidFill>
              </a:defRPr>
            </a:pPr>
            <a:r>
              <a:t>3. Proven Information Retrieval Standard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Endorsed across modern enterprise search architectures (Cormack et al., SIGIR) for multi-channel retrieval, guaranteeing stable and fair candidate fusion.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Eligibility Verification: Deterministic Constraint Satisfaction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9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728655" cy="11887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25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59669"/>
                </a:solidFill>
              </a:defRPr>
            </a:pPr>
            <a:r>
              <a:t>★ KEY EXAMINER DEFENSE: Why Deterministic Rules Instead of LLMs or Neural Classifiers?</a:t>
            </a:r>
          </a:p>
          <a:p>
            <a:pPr>
              <a:spcBef>
                <a:spcPts val="300"/>
              </a:spcBef>
              <a:defRPr sz="1050">
                <a:solidFill>
                  <a:srgbClr val="1E293B"/>
                </a:solidFill>
              </a:defRPr>
            </a:pPr>
            <a:r>
              <a:t>In public governance, welfare eligibility is a legal and statutory determination, not a probabilistic guess. Machine learning models hallucinate and cannot be audited in a court of law. PublicHelp AI enforces deterministic boolean constraint satisfaction with a 100% mathematical audit trail.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3328416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651760"/>
            <a:ext cx="3328416" cy="3657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POTENTIALLY_ELIGIBLE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0896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All specified demographic constraints are strictly satisfied.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Citizen age falls within [min_age, max_age].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State of residence matches domicile rule or scheme is CENTRAL.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Income does not exceed statutory ceiling.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Gender and social category match statutory target.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2651760"/>
            <a:ext cx="3328416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80" y="2651760"/>
            <a:ext cx="3328416" cy="3657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NEEDS_MORE_INFO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310896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Certain scheme prerequisites cannot be confirmed from user profile.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E.g., scheme requires disability certificate, minority religion, or land deed.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System transparently alerts the citizen to supply additional documentation.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Prevents wrongful false rejections of entitled beneficiaries.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40" y="2651760"/>
            <a:ext cx="3328416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63840" y="2651760"/>
            <a:ext cx="3328416" cy="36576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NOT_ELIGIBLE (Hard Prune)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108960"/>
            <a:ext cx="2962656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Explicit contradiction detected between user profile and scheme law.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E.g., Male citizen applying for 'Kanya Sumangala' (Female only).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E.g., Age 55 applying for youth apprenticeship (Max age 35).</a:t>
            </a:r>
          </a:p>
          <a:p>
            <a:pPr>
              <a:spcBef>
                <a:spcPts val="600"/>
              </a:spcBef>
              <a:defRPr sz="1000">
                <a:solidFill>
                  <a:srgbClr val="1E293B"/>
                </a:solidFill>
              </a:defRPr>
            </a:pPr>
            <a:r>
              <a:t>• Automatically pruned from recommendations to avoid citizen misinformation.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Diversity Defense: Vectorized Maximal Marginal Relevance (MMR)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10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The Diversity Problem in Public Welfare</a:t>
            </a:r>
          </a:p>
          <a:p>
            <a:pPr>
              <a:spcBef>
                <a:spcPts val="400"/>
              </a:spcBef>
              <a:defRPr sz="1050">
                <a:solidFill>
                  <a:srgbClr val="64748B"/>
                </a:solidFill>
              </a:defRPr>
            </a:pPr>
            <a:r>
              <a:t>Without MMR, searching 'farming financial support' returns 10 near-identical crop subsidy schemes from the same state department. The citizen never sees crop insurance, solar pumping subsidies, or loan waivers.</a:t>
            </a:r>
          </a:p>
          <a:p>
            <a:pPr>
              <a:spcBef>
                <a:spcPts val="800"/>
              </a:spcBef>
              <a:defRPr sz="1200" b="1">
                <a:solidFill>
                  <a:srgbClr val="059669"/>
                </a:solidFill>
              </a:defRPr>
            </a:pPr>
            <a:r>
              <a:t>MMR Mathematical Formulation (λ = 0.85):</a:t>
            </a:r>
          </a:p>
          <a:p>
            <a:pPr>
              <a:spcBef>
                <a:spcPts val="400"/>
              </a:spcBef>
              <a:defRPr sz="1100" b="1">
                <a:solidFill>
                  <a:srgbClr val="3B82F6"/>
                </a:solidFill>
              </a:defRPr>
            </a:pPr>
            <a:r>
              <a:t>MMR(Q, C, S) = argmax [ λ·Rel(Q, d_i) - (1-λ)·max Sim(d_i, d_j) ]</a:t>
            </a:r>
          </a:p>
          <a:p>
            <a:pPr>
              <a:spcBef>
                <a:spcPts val="400"/>
              </a:spcBef>
              <a:defRPr sz="1000">
                <a:solidFill>
                  <a:srgbClr val="1E293B"/>
                </a:solidFill>
              </a:defRPr>
            </a:pPr>
            <a:r>
              <a:t>• C is the candidate pool; S is the set of already selected items.</a:t>
            </a:r>
            <a:br/>
            <a:r>
              <a:t>• Rel(Q, d_i) is the relevance utility score.</a:t>
            </a:r>
            <a:br/>
            <a:r>
              <a:t>• Sim(d_i, d_j) is pairwise cosine similarity between 384d scheme vectors.</a:t>
            </a:r>
            <a:br/>
            <a:r>
              <a:t>• λ = 0.85 balances 85% core relevance with 15% ministry &amp; domain diversity.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4225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NumPy Vectorization Optimization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9E0B"/>
                </a:solidFill>
              </a:rPr>
              <a:t>• The Naive MMR Bottleneck: </a:t>
            </a:r>
            <a:r>
              <a:rPr sz="1050">
                <a:solidFill>
                  <a:srgbClr val="1E293B"/>
                </a:solidFill>
              </a:rPr>
              <a:t>Iterative Python loops with scikit-learn cosine_similarity took over 200 ms per request due to repeated function call overhead.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9E0B"/>
                </a:solidFill>
              </a:rPr>
              <a:t>• Vectorized Implementation: </a:t>
            </a:r>
            <a:r>
              <a:rPr sz="1050">
                <a:solidFill>
                  <a:srgbClr val="1E293B"/>
                </a:solidFill>
              </a:rPr>
              <a:t>Pre-stacked the candidate embedding matrix E_cand (N x 384). Evaluated similarities to the selected set S via a single matrix-vector dot product: np.dot(E_cand, e_selected).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9E0B"/>
                </a:solidFill>
              </a:rPr>
              <a:t>• Bounded Candidate Pool: </a:t>
            </a:r>
            <a:r>
              <a:rPr sz="1050">
                <a:solidFill>
                  <a:srgbClr val="1E293B"/>
                </a:solidFill>
              </a:rPr>
              <a:t>Capped candidate pool to top 60 highest-ranked items prior to MMR reranking.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F59E0B"/>
                </a:solidFill>
              </a:rPr>
              <a:t>• Sub-Millisecond Execution: </a:t>
            </a:r>
            <a:r>
              <a:rPr sz="1050">
                <a:solidFill>
                  <a:srgbClr val="1E293B"/>
                </a:solidFill>
              </a:rPr>
              <a:t>Execution latency reduced from 200ms+ down to 0.8 milliseconds (&gt;250x speedup), maintaining zero lag on live user interfaces.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Civic Personalization: Persona Simulation &amp; Welfare Packages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11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1460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514600" cy="365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Ramesh Patel (44)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9164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Marginal Farmer, Madhya Pradesh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Income: ₹75,000 | General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Top Matches: MP Farmer Income Support, PM-Kisan Samman Nidhi, Kisan Credit 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80160"/>
            <a:ext cx="251460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65576" y="1280160"/>
            <a:ext cx="2514600" cy="36576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Maya Sharma (19)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169164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SC Female Student, Uttar Pradesh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Income: ₹1,20,000 | SC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Top Matches: UP Post-Matric SC Scholarship, Girl Child Coaching Grant, National Means-cum-Merit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280160"/>
            <a:ext cx="251460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280160"/>
            <a:ext cx="2514600" cy="36576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Sunita Devi (32)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69164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Rural Artisan &amp; Homemaker, Bihar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Income: ₹60,000 | OBC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Top Matches: Bihar Mahila Udyami Yojana, PM Awas Yojana Gramin, Lakhpati Didi SHG Microloan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1280160"/>
            <a:ext cx="2514600" cy="3108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33688" y="1280160"/>
            <a:ext cx="2514600" cy="3657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Rajesh Kumar (67)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169164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0F172A"/>
                </a:solidFill>
              </a:defRPr>
            </a:pPr>
            <a:r>
              <a:t>Elderly Pensioner, Rajasthan</a:t>
            </a:r>
          </a:p>
          <a:p>
            <a:pPr>
              <a:spcBef>
                <a:spcPts val="300"/>
              </a:spcBef>
              <a:defRPr sz="950">
                <a:solidFill>
                  <a:srgbClr val="64748B"/>
                </a:solidFill>
              </a:defRPr>
            </a:pPr>
            <a:r>
              <a:t>Income: ₹40,000 | SC</a:t>
            </a:r>
          </a:p>
          <a:p>
            <a:pPr>
              <a:spcBef>
                <a:spcPts val="600"/>
              </a:spcBef>
              <a:defRPr sz="950">
                <a:solidFill>
                  <a:srgbClr val="1E293B"/>
                </a:solidFill>
              </a:defRPr>
            </a:pPr>
            <a:r>
              <a:t>Top Matches: Indira Gandhi National Old Age Pension, Ayushman Bharat PM-JAY, Free Medicine Scheme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10728655" cy="16459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663440"/>
            <a:ext cx="10149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Complementary Welfare Packages (Strategic Bundling)</a:t>
            </a:r>
          </a:p>
          <a:p>
            <a:pPr>
              <a:spcBef>
                <a:spcPts val="400"/>
              </a:spcBef>
              <a:defRPr sz="1050">
                <a:solidFill>
                  <a:srgbClr val="E2E8F0"/>
                </a:solidFill>
              </a:defRPr>
            </a:pPr>
            <a:r>
              <a:t>• Problem: Citizens rarely need an isolated scheme; they require a comprehensive social safety net.</a:t>
            </a:r>
            <a:br/>
            <a:r>
              <a:t>• Solution: Engine dynamically groups complementary schemes (e.g., Kisan Samriddhi Bundle = Income Support + Crop Insurance + Solar Infrastructure Subsidy).</a:t>
            </a:r>
            <a:br/>
            <a:r>
              <a:t>• Independent Verification: Every individual component in the bundle is subjected to independent deterministic eligibility audits.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Explainability Framework: Transparent Badges &amp; Item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12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5212080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Transparent 'Why Recommended' Badges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</a:defRPr>
            </a:pPr>
            <a:r>
              <a:t>Builds citizen trust through truthful, data-backed rationale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59669"/>
                </a:solidFill>
              </a:rPr>
              <a:t>✓ State Enactment Match: </a:t>
            </a:r>
            <a:r>
              <a:rPr sz="1050">
                <a:solidFill>
                  <a:srgbClr val="1E293B"/>
                </a:solidFill>
              </a:rPr>
              <a:t>'Specifically enacted for residents of Madhya Pradesh' (validates geographical jurisdiction).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59669"/>
                </a:solidFill>
              </a:rPr>
              <a:t>✓ Interest Alignment: </a:t>
            </a:r>
            <a:r>
              <a:rPr sz="1050">
                <a:solidFill>
                  <a:srgbClr val="1E293B"/>
                </a:solidFill>
              </a:rPr>
              <a:t>'Category aligns with your stated interests: Agriculture &amp; Credit'.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59669"/>
                </a:solidFill>
              </a:rPr>
              <a:t>✓ Income Compliance: </a:t>
            </a:r>
            <a:r>
              <a:rPr sz="1050">
                <a:solidFill>
                  <a:srgbClr val="1E293B"/>
                </a:solidFill>
              </a:rPr>
              <a:t>'Income of ₹75,000 is well within the ₹2,00,000 threshold'.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59669"/>
                </a:solidFill>
              </a:rPr>
              <a:t>✓ Universal Safety Net: </a:t>
            </a:r>
            <a:r>
              <a:rPr sz="1050">
                <a:solidFill>
                  <a:srgbClr val="1E293B"/>
                </a:solidFill>
              </a:rPr>
              <a:t>'Central Government scheme open to all qualifying Indian citizens'.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59669"/>
                </a:solidFill>
              </a:rPr>
              <a:t>✓ Zero Generic Fluff: </a:t>
            </a:r>
            <a:r>
              <a:rPr sz="1050">
                <a:solidFill>
                  <a:srgbClr val="1E293B"/>
                </a:solidFill>
              </a:rPr>
              <a:t>No vague marketing language; every explanation maps directly to verified database attributes.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80160"/>
            <a:ext cx="524225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371600"/>
            <a:ext cx="484632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Item-to-Item Content-Based Filtering</a:t>
            </a:r>
          </a:p>
          <a:p>
            <a:pPr>
              <a:spcBef>
                <a:spcPts val="300"/>
              </a:spcBef>
              <a:defRPr sz="1050" i="1">
                <a:solidFill>
                  <a:srgbClr val="64748B"/>
                </a:solidFill>
              </a:defRPr>
            </a:pPr>
            <a:r>
              <a:t>Nearest-neighbor similarity across all 2,066 catalog items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B82F6"/>
                </a:solidFill>
              </a:rPr>
              <a:t>• Scheme Detail Discovery: </a:t>
            </a:r>
            <a:r>
              <a:rPr sz="1050">
                <a:solidFill>
                  <a:srgbClr val="1E293B"/>
                </a:solidFill>
              </a:rPr>
              <a:t>When a citizen inspects a specific scheme detail page, the system calculates pairwise cosine similarities across all 2,066 scheme vectors.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B82F6"/>
                </a:solidFill>
              </a:rPr>
              <a:t>• Similarity Formula: </a:t>
            </a:r>
            <a:r>
              <a:rPr sz="1050">
                <a:solidFill>
                  <a:srgbClr val="1E293B"/>
                </a:solidFill>
              </a:rPr>
              <a:t>Sim(A, B) = e_A · e_B = ∑ (k=1 to 384) [ e_A,k · e_B,k ]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B82F6"/>
                </a:solidFill>
              </a:rPr>
              <a:t>• Live Match Percentage: </a:t>
            </a:r>
            <a:r>
              <a:rPr sz="1050">
                <a:solidFill>
                  <a:srgbClr val="1E293B"/>
                </a:solidFill>
              </a:rPr>
              <a:t>Displays dynamic match percentage badges (e.g., '92% Semantic Match') along with shared tags.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B82F6"/>
                </a:solidFill>
              </a:rPr>
              <a:t>• Alternative Surfacing: </a:t>
            </a:r>
            <a:r>
              <a:rPr sz="1050">
                <a:solidFill>
                  <a:srgbClr val="1E293B"/>
                </a:solidFill>
              </a:rPr>
              <a:t>If a citizen is marginally ineligible for scheme A, the system immediately surfaces near-equivalent schemes B and C that they do qualify for.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Empirical Evaluation: Benchmark Results on 27 Civic Test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13 of 18</a:t>
            </a:r>
          </a:p>
        </p:txBody>
      </p:sp>
      <p:pic>
        <p:nvPicPr>
          <p:cNvPr id="6" name="Picture 5" descr="model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6217920" cy="49377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280160"/>
            <a:ext cx="4327855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371600"/>
            <a:ext cx="396209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Performance Gains Summary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59669"/>
                </a:solidFill>
              </a:rPr>
              <a:t>★ Precision@5: +18.2%
</a:t>
            </a:r>
            <a:r>
              <a:rPr sz="1000">
                <a:solidFill>
                  <a:srgbClr val="1E293B"/>
                </a:solidFill>
              </a:rPr>
              <a:t>Improved from 0.0815 to 0.0963, proving top 5 items are significantly more relevant to citizen intent.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59669"/>
                </a:solidFill>
              </a:rPr>
              <a:t>★ NDCG@5: +13.9%
</a:t>
            </a:r>
            <a:r>
              <a:rPr sz="1000">
                <a:solidFill>
                  <a:srgbClr val="1E293B"/>
                </a:solidFill>
              </a:rPr>
              <a:t>Rank-order quality improved from 0.1071 to 0.1220, placing the highest-utility schemes at position #1 and #2.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59669"/>
                </a:solidFill>
              </a:rPr>
              <a:t>★ MRR: +22.8%
</a:t>
            </a:r>
            <a:r>
              <a:rPr sz="1000">
                <a:solidFill>
                  <a:srgbClr val="1E293B"/>
                </a:solidFill>
              </a:rPr>
              <a:t>Mean Reciprocal Rank jumped from 0.1629 to 0.2000, reducing citizen discovery time by nearly a quarter.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59669"/>
                </a:solidFill>
              </a:rPr>
              <a:t>★ Recall@10: 20.7%
</a:t>
            </a:r>
            <a:r>
              <a:rPr sz="1000">
                <a:solidFill>
                  <a:srgbClr val="1E293B"/>
                </a:solidFill>
              </a:rPr>
              <a:t>Healthy retrieval breadth without diluting precision.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059669"/>
                </a:solidFill>
              </a:rPr>
              <a:t>★ Zero Hallucinations: 
</a:t>
            </a:r>
            <a:r>
              <a:rPr sz="1000">
                <a:solidFill>
                  <a:srgbClr val="1E293B"/>
                </a:solidFill>
              </a:rPr>
              <a:t>100% of recommended items are legally verified against database constraints.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RecSys Domain Health: Catalog Coverage &amp; Personalization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14 of 18</a:t>
            </a:r>
          </a:p>
        </p:txBody>
      </p:sp>
      <p:pic>
        <p:nvPicPr>
          <p:cNvPr id="6" name="Picture 5" descr="recsys_heal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852160" cy="3657600"/>
          </a:xfrm>
          <a:prstGeom prst="rect">
            <a:avLst/>
          </a:prstGeom>
        </p:spPr>
      </p:pic>
      <p:pic>
        <p:nvPicPr>
          <p:cNvPr id="7" name="Picture 6" descr="latency_break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4389120"/>
            <a:ext cx="5852160" cy="1920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766560" y="1280160"/>
            <a:ext cx="4693615" cy="5029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1371600"/>
            <a:ext cx="4327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172A"/>
                </a:solidFill>
              </a:defRPr>
            </a:pPr>
            <a:r>
              <a:t>Recommender Health Verification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B82F6"/>
                </a:solidFill>
              </a:rPr>
              <a:t>• Catalog Coverage (100.0%): </a:t>
            </a:r>
            <a:r>
              <a:rPr sz="1000">
                <a:solidFill>
                  <a:srgbClr val="1E293B"/>
                </a:solidFill>
              </a:rPr>
              <a:t>Every single one of the 2,066 schemes in the database is indexable, retrievable, and verifiable. No 'dark catalog' exists.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B82F6"/>
                </a:solidFill>
              </a:rPr>
              <a:t>• Intra-List Diversity (ILD = 0.7102): </a:t>
            </a:r>
            <a:r>
              <a:rPr sz="1000">
                <a:solidFill>
                  <a:srgbClr val="1E293B"/>
                </a:solidFill>
              </a:rPr>
              <a:t>Measures average pairwise semantic distance between items in top 10 list. A score of 0.71 confirms recommendations span agriculture, health, education, and housing rather than a single redundant silo.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B82F6"/>
                </a:solidFill>
              </a:rPr>
              <a:t>• Persona Dissimilarity (31.63%): </a:t>
            </a:r>
            <a:r>
              <a:rPr sz="1000">
                <a:solidFill>
                  <a:srgbClr val="1E293B"/>
                </a:solidFill>
              </a:rPr>
              <a:t>Jaccard distance between recommendations across distinct demographic personas. Proves recommendations are genuinely customized rather than showing the same generic popular list.</a:t>
            </a:r>
          </a:p>
          <a:p>
            <a:pPr>
              <a:spcBef>
                <a:spcPts val="800"/>
              </a:spcBef>
            </a:pPr>
            <a:r>
              <a:rPr b="1" sz="1100">
                <a:solidFill>
                  <a:srgbClr val="3B82F6"/>
                </a:solidFill>
              </a:rPr>
              <a:t>• Average Latency (&lt;389 ms): </a:t>
            </a:r>
            <a:r>
              <a:rPr sz="1000">
                <a:solidFill>
                  <a:srgbClr val="1E293B"/>
                </a:solidFill>
              </a:rPr>
              <a:t>Full end-to-end processing completes well below typical web API thresholds (1000ms).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Full-Stack Implementation: FastAPI, React 19 &amp; Tailwind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15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28416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328416" cy="4114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Backend Architecture (FastAPI)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High-concurrency asynchronous ASGI server.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In-memory MLEngine singleton loaded on startup.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Pydantic v2 strict schema validation.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SQLite FTS5 virtual tables for lexical indexing.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Clean separation of api/, core/, models/, services/.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328416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328416" cy="41148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Frontend Client (React 19 + Vite)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Modern React 19 with TypeScript and Tailwind CSS.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Persona Simulation Hub with real-time state updates.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Live Eligibility Auditing &amp; 'Why Recommended' tags.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Side-by-side scheme comparison modal.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Interactive ML Insights Dashboard with live metrics.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280160"/>
            <a:ext cx="3328416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280160"/>
            <a:ext cx="3328416" cy="41148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Engineering Rigor &amp;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Zero external API dependencies (fully self-contained).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Hardware-adaptive: runs on CPU or NVIDIA CUDA GPU.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Deterministic reproducible seeds for ML benchmarking.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Comprehensive error handling and status codes.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Decoupled microservice-ready modular architecture.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Verification: 70 Automated Tests Passed (100% Green)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16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25146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2514600" cy="36576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test_api.py (21 Tests)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37360"/>
            <a:ext cx="2240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Health &amp; metadata endpoints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Query parsing &amp; pagination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Persona recommendation routing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Detail &amp; similar schemes APIs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Error handling &amp; 404 validation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80160"/>
            <a:ext cx="25146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65576" y="1280160"/>
            <a:ext cx="2514600" cy="3657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test_data.py (15 Tests)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1737360"/>
            <a:ext cx="2240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Database table integrity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Null checks on primary keys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Schema data type conformity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FTS5 full-text search queries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Catalog count (2,066 items)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280160"/>
            <a:ext cx="25146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280160"/>
            <a:ext cx="2514600" cy="36576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test_eligibility.py (27 Tests)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737360"/>
            <a:ext cx="2240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Boundary age constraints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Gender rule hard rejection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Income cap inequality checks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State domicile jurisdiction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Tri-state transition logic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1280160"/>
            <a:ext cx="251460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933688" y="1280160"/>
            <a:ext cx="2514600" cy="365760"/>
          </a:xfrm>
          <a:prstGeom prst="rect">
            <a:avLst/>
          </a:prstGeom>
          <a:solidFill>
            <a:srgbClr val="A855F7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test_recsys.py (7 Tests)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8" y="1737360"/>
            <a:ext cx="2240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RRF rank fusion consistency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MMR diversity vs baseline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Persona differentiation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Item-to-item similarity checks</a:t>
            </a:r>
          </a:p>
          <a:p>
            <a:pPr>
              <a:spcBef>
                <a:spcPts val="800"/>
              </a:spcBef>
              <a:defRPr sz="1000">
                <a:solidFill>
                  <a:srgbClr val="1E293B"/>
                </a:solidFill>
              </a:defRPr>
            </a:pPr>
            <a:r>
              <a:t>✓ Welfare bundle generation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======================== 70 passed, 1 warning in 26.18s ========================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PUBLICHELP AI • TECHNICAL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Future Roadmap: Multilingual Voice &amp; Civic Digital Public Infra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PublicHelp AI — Explainable Recommender System for Citizen Welfare   |   Slide 17 of 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3328416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80160"/>
            <a:ext cx="3328416" cy="4114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1: Indic Voice Interface (Bhashini)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Integrate Digital India Bhashini APIs for automatic speech recognition (ASR) in 12+ Indian languages.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Empower illiterate and semi-literate rural citizens to speak queries in colloquial Hindi, Bhojpuri, Tamil, Telugu, Marathi.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Text-to-Speech (TTS) auditory readout of scheme benefits and eligibility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328416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328416" cy="411480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2: Aadhaar &amp; DigiLocker e-KYC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Seamless integration with DigiLocker API to automatically verify caste, income certificates, and domicile.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Convert 'NEEDS_MORE_INFO' status into instantaneous 100% verified eligibility.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Pre-filled single-window welfare application forms for direct submission to state portals.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280160"/>
            <a:ext cx="3328416" cy="4937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863840" y="1280160"/>
            <a:ext cx="3328416" cy="41148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Phase 3: National Scale &amp; Edge 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1828800"/>
            <a:ext cx="296265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Scale catalog from 2,066 to 50,000+ district, municipal, and panchayat-level schemes.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FAISS vector indexing and Redis caching for sub-10ms response times under 100,000 concurrent users.</a:t>
            </a:r>
          </a:p>
          <a:p>
            <a:pPr>
              <a:spcBef>
                <a:spcPts val="1000"/>
              </a:spcBef>
              <a:defRPr sz="1100">
                <a:solidFill>
                  <a:srgbClr val="1E293B"/>
                </a:solidFill>
              </a:defRPr>
            </a:pPr>
            <a:r>
              <a:t>• Offline Common Service Centre (CSC) edge kiosk deployment in rural village secretariats.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Summary: PublicHelp AI Contributions &amp; Viva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514600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14884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B82F6"/>
                </a:solidFill>
              </a:defRPr>
            </a:pPr>
            <a:r>
              <a:t>Civic Value Proposition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Solves the critical last-mile barrier in Indian public governance by democratizing discovery for 2,066 schemes with zero information asymmetry.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65576" y="2011680"/>
            <a:ext cx="2514600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2736" y="214884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Hybrid Retrieval &amp; RRF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Combines sparse TF-IDF (statutory tokens) with dense GPU embeddings (colloquial intent) via scale-invariant Reciprocal Rank Fusion (k=60).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2011680"/>
            <a:ext cx="2514600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36792" y="214884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Zero-Hallucination Integrity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Replaces error-prone LLMs with a deterministic boolean constraint satisfaction engine for legally sound, audited eligibility verification.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2011680"/>
            <a:ext cx="2514600" cy="32918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70848" y="2148840"/>
            <a:ext cx="22402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A855F7"/>
                </a:solidFill>
              </a:defRPr>
            </a:pPr>
            <a:r>
              <a:t>Production-Ready Full Stack</a:t>
            </a:r>
          </a:p>
          <a:p>
            <a:pPr>
              <a:spcBef>
                <a:spcPts val="800"/>
              </a:spcBef>
              <a:defRPr sz="1050">
                <a:solidFill>
                  <a:srgbClr val="E2E8F0"/>
                </a:solidFill>
              </a:defRPr>
            </a:pPr>
            <a:r>
              <a:t>FastAPI backend, React 19 UI, vectorized MMR diversity (&lt;1ms), 100% catalog coverage, and 70 automated passing pytest tests.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Thank You! Questions &amp; Discussion Welcome.</a:t>
            </a:r>
          </a:p>
          <a:p>
            <a:pPr algn="ctr">
              <a:spcBef>
                <a:spcPts val="200"/>
              </a:spcBef>
              <a:defRPr sz="1100">
                <a:solidFill>
                  <a:srgbClr val="F59E0B"/>
                </a:solidFill>
              </a:defRPr>
            </a:pPr>
            <a:r>
              <a:t>GitHub Repository: https://github.com/DDVats/PublicHelpAI.git   |   Divyanshu Dwivedi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